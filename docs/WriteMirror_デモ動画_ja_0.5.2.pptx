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B71BE-B844-128F-D5E8-EF505C051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6BA91E9-EDF8-F216-D305-CFF79AF4D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009F27-54C4-7DD5-EDC5-7698E824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3F39D2-A5F1-A939-258C-0D32EF0A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DDCB38-B5B2-5064-A297-9561C7AE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60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7833F-C6FA-B380-4B08-A43F4B75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25C5CF-38C8-B7A3-31CA-B8B3298F8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A94D9C-A8D4-EFF4-17A0-5512D522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DAFCDF-286D-ADD2-38CA-006C1A6E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633581-03AD-49CE-EDDC-79B0274E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29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B2EA6E-648A-71CD-125F-D881CD88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FC6C51-B600-2E44-1219-7A78EC529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DA41FD-7844-B872-6ED8-6BCE9DB1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1BD821-9696-FC2B-64C0-47DA9F1F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0551A-FA78-B42A-C405-FD995D6A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45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47C65-C364-4F92-7CA1-0FFB3644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9D8C86-6561-814F-7FE9-EDFDE5D3C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D7AA6F-D3DA-8605-7662-D68BBD72E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C183F3-B9A4-58D9-43E1-70B39F7A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A33500-3B4B-BE27-B95F-3E80E351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6A89C5-E280-BE83-E05E-2CE46182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61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86B94F-BB02-CCB1-6FB4-A9324B5F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890143-B4CE-46F9-6F61-A885D6511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8FA2381-53AB-0CC0-299C-D5DE79D0E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A26027-29BC-4F3A-C69E-D38EB6F4D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24C11E8-DC5A-4246-E171-44B285B2D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FF9625-76E8-9169-D5D7-8967B427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108F32-1F34-2DA1-A74B-CF4630A8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949CD4-4F02-205E-208A-4724E06F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27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391E31-780D-7AE4-EA32-96621A80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F17EA9-9ACD-85E7-89B9-44E4190D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0A398F7-8336-FE03-2089-9FC4A7D7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BFE172-2E45-2FCA-3358-CD3D1701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9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E66F78-E2AC-0DB6-1C97-39A7CE42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FDDC0A-1D69-D2C9-DE43-8BDD58AC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24033F-2206-A8FA-E59D-39339F75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43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CEC37E-7A59-C746-CB70-3618307A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80489-5393-F7B6-F13F-391937823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45933E2-0A95-0C7D-FAF7-ACE28E494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D65629-42A9-A906-09ED-9CAF5CFF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D12168-8E0C-31F1-B6B6-18BF77C5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267F00-4434-7505-4D89-FF15174B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7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1B3651-67E2-5C2A-B626-A1E70005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6973276-3D33-F232-270A-646437A0F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146DE6-BE2B-B93E-6745-0C26EBDD8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4BC7F5-F8C8-C881-5326-6CF0D78F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0A0E88-F9AD-03C2-AEA6-11096FFD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63916A-26CB-D0D9-B187-8EAE65BB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42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AEC71-D183-89AE-C347-B04F6E253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D351D2-3372-489D-7425-1DF4EFE2E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645573-28CA-F2B5-3201-68A33B3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70903-752D-E5FA-E11F-1F166A2F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4A1AC5-72FC-E7C3-48A1-A6B1F8B8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48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057F40-12FF-A91E-50FF-DACBA6944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317D07-2026-B886-801D-E0AC160BC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411ACC-9BB0-5E9B-ED19-51556AB9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AE23C-73DB-D175-AE0B-4636E462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0F53A6-26DC-BC89-843E-3196B127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60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9461F4-B18B-FB38-74F5-202B8435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00A639-CFF2-064D-9618-625D9D139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C3C85A-AD97-688D-A39E-C7369F15E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FAC4D-46B6-4BF0-AF49-B918B6883490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BC332A-A24B-DC10-FBBB-C21A99C6C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B0ECB7-E8A4-56E2-9197-BF70D7737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C6CB0-1B2F-4A8B-B323-92EED3B28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69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57CFF5-C4C8-417B-D5E9-966E280127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C1291F-652E-248F-0032-E040629A1854}"/>
              </a:ext>
            </a:extLst>
          </p:cNvPr>
          <p:cNvSpPr/>
          <p:nvPr/>
        </p:nvSpPr>
        <p:spPr>
          <a:xfrm>
            <a:off x="0" y="0"/>
            <a:ext cx="279400" cy="6858000"/>
          </a:xfrm>
          <a:prstGeom prst="rect">
            <a:avLst/>
          </a:prstGeom>
          <a:solidFill>
            <a:srgbClr val="0085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6A0E6A-39D0-282D-C4AB-B7DBCE38CD25}"/>
              </a:ext>
            </a:extLst>
          </p:cNvPr>
          <p:cNvSpPr txBox="1"/>
          <p:nvPr/>
        </p:nvSpPr>
        <p:spPr>
          <a:xfrm>
            <a:off x="914400" y="1549400"/>
            <a:ext cx="10160000" cy="72840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4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WriteMirror 0.5.2</a:t>
            </a:r>
            <a:endParaRPr kumimoji="1" lang="ja-JP" altLang="en-US" sz="4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DEC97E-1870-E420-EA3B-D9376D716CE5}"/>
              </a:ext>
            </a:extLst>
          </p:cNvPr>
          <p:cNvSpPr txBox="1"/>
          <p:nvPr/>
        </p:nvSpPr>
        <p:spPr>
          <a:xfrm>
            <a:off x="965200" y="2844800"/>
            <a:ext cx="1016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240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Surface Pen</a:t>
            </a:r>
            <a:r>
              <a:rPr kumimoji="1" lang="ja-JP" altLang="en-US" sz="240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で「書いた過程」をふり返る研究プロトタイプ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32FF8D7-8CE4-6B13-F03B-FF39EA535AEF}"/>
              </a:ext>
            </a:extLst>
          </p:cNvPr>
          <p:cNvSpPr txBox="1"/>
          <p:nvPr/>
        </p:nvSpPr>
        <p:spPr>
          <a:xfrm>
            <a:off x="990600" y="4381500"/>
            <a:ext cx="9652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 sz="1700">
                <a:solidFill>
                  <a:srgbClr val="AEDCE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小グループ課題向けデモ｜日本語</a:t>
            </a:r>
            <a:r>
              <a:rPr kumimoji="1" lang="en-US" altLang="ja-JP" sz="1700">
                <a:solidFill>
                  <a:srgbClr val="AEDCE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UI</a:t>
            </a:r>
            <a:r>
              <a:rPr kumimoji="1" lang="ja-JP" altLang="en-US" sz="1700">
                <a:solidFill>
                  <a:srgbClr val="AEDCE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｜</a:t>
            </a:r>
            <a:r>
              <a:rPr kumimoji="1" lang="en-US" altLang="ja-JP" sz="1700">
                <a:solidFill>
                  <a:srgbClr val="AEDCE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ARM64 Surface</a:t>
            </a:r>
            <a:endParaRPr kumimoji="1" lang="ja-JP" altLang="en-US" sz="1700">
              <a:solidFill>
                <a:srgbClr val="AEDCE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7" name="narration-01">
            <a:hlinkClick r:id="" action="ppaction://media"/>
            <a:extLst>
              <a:ext uri="{FF2B5EF4-FFF2-40B4-BE49-F238E27FC236}">
                <a16:creationId xmlns:a16="http://schemas.microsoft.com/office/drawing/2014/main" id="{CBC1DFEC-67B2-5525-855B-7C7F7005CD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75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6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E98080-AA6F-98A0-4646-3D9CD6E793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681332-548E-C067-9627-DFA390DFD98F}"/>
              </a:ext>
            </a:extLst>
          </p:cNvPr>
          <p:cNvSpPr txBox="1"/>
          <p:nvPr/>
        </p:nvSpPr>
        <p:spPr>
          <a:xfrm>
            <a:off x="482600" y="228600"/>
            <a:ext cx="10922000" cy="4360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1. </a:t>
            </a:r>
            <a:r>
              <a:rPr kumimoji="1" lang="ja-JP" altLang="en-US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本人の意思を最初に確認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162531B-34CB-47D3-AC66-1D5A1FD7A9ED}"/>
              </a:ext>
            </a:extLst>
          </p:cNvPr>
          <p:cNvSpPr/>
          <p:nvPr/>
        </p:nvSpPr>
        <p:spPr>
          <a:xfrm>
            <a:off x="381000" y="1066800"/>
            <a:ext cx="8102600" cy="5435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5CE5BE8-79D7-42F2-88A5-47719BAA2D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168400"/>
            <a:ext cx="7874000" cy="5245100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EC2C6A0-A450-3125-192D-F497C345A9A6}"/>
              </a:ext>
            </a:extLst>
          </p:cNvPr>
          <p:cNvSpPr/>
          <p:nvPr/>
        </p:nvSpPr>
        <p:spPr>
          <a:xfrm>
            <a:off x="8712200" y="1066800"/>
            <a:ext cx="3098800" cy="5435600"/>
          </a:xfrm>
          <a:prstGeom prst="roundRect">
            <a:avLst/>
          </a:prstGeom>
          <a:solidFill>
            <a:srgbClr val="EF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AB04FF-3DF5-36B7-82A6-7512298351E8}"/>
              </a:ext>
            </a:extLst>
          </p:cNvPr>
          <p:cNvSpPr txBox="1"/>
          <p:nvPr/>
        </p:nvSpPr>
        <p:spPr>
          <a:xfrm>
            <a:off x="8966200" y="1498600"/>
            <a:ext cx="2590800" cy="88229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・点数をつけない
・独立モードでは保存しない
・いつでもやめられる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1AEE5F8-FBAF-A304-C33B-6A6B4EDBC800}"/>
              </a:ext>
            </a:extLst>
          </p:cNvPr>
          <p:cNvSpPr txBox="1"/>
          <p:nvPr/>
        </p:nvSpPr>
        <p:spPr>
          <a:xfrm>
            <a:off x="9017000" y="5969000"/>
            <a:ext cx="2413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1000">
                <a:solidFill>
                  <a:srgbClr val="697C8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0.5.2  |  2/7</a:t>
            </a:r>
            <a:endParaRPr kumimoji="1" lang="ja-JP" altLang="en-US" sz="1000">
              <a:solidFill>
                <a:srgbClr val="697C8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10" name="narration-02">
            <a:hlinkClick r:id="" action="ppaction://media"/>
            <a:extLst>
              <a:ext uri="{FF2B5EF4-FFF2-40B4-BE49-F238E27FC236}">
                <a16:creationId xmlns:a16="http://schemas.microsoft.com/office/drawing/2014/main" id="{CEF35096-C3D2-9B5E-0A15-E869A2A633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65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6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64CB10D-0991-5985-69AD-748E7DF82C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FA7D46-050C-6392-3BCE-EA2E14A69FA8}"/>
              </a:ext>
            </a:extLst>
          </p:cNvPr>
          <p:cNvSpPr txBox="1"/>
          <p:nvPr/>
        </p:nvSpPr>
        <p:spPr>
          <a:xfrm>
            <a:off x="482600" y="228600"/>
            <a:ext cx="10922000" cy="4360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2. Surface Pen</a:t>
            </a:r>
            <a:r>
              <a:rPr kumimoji="1" lang="ja-JP" altLang="en-US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で書く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0C2D491-451D-A209-4E87-E7925A998787}"/>
              </a:ext>
            </a:extLst>
          </p:cNvPr>
          <p:cNvSpPr/>
          <p:nvPr/>
        </p:nvSpPr>
        <p:spPr>
          <a:xfrm>
            <a:off x="381000" y="1066800"/>
            <a:ext cx="8102600" cy="5435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E371EE5-B1E4-FAF2-DD84-E74712B57A5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168400"/>
            <a:ext cx="7874000" cy="5245100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F7E22A-5DB6-E407-8D8B-2393109F83F0}"/>
              </a:ext>
            </a:extLst>
          </p:cNvPr>
          <p:cNvSpPr/>
          <p:nvPr/>
        </p:nvSpPr>
        <p:spPr>
          <a:xfrm>
            <a:off x="8712200" y="1066800"/>
            <a:ext cx="3098800" cy="5435600"/>
          </a:xfrm>
          <a:prstGeom prst="roundRect">
            <a:avLst/>
          </a:prstGeom>
          <a:solidFill>
            <a:srgbClr val="EF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0AF471-E253-35A0-07C8-382A4219EE0C}"/>
              </a:ext>
            </a:extLst>
          </p:cNvPr>
          <p:cNvSpPr txBox="1"/>
          <p:nvPr/>
        </p:nvSpPr>
        <p:spPr>
          <a:xfrm>
            <a:off x="8966200" y="1498600"/>
            <a:ext cx="2590800" cy="115929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・右手・左手を誰でも選択
・平仮名、片仮名、漢字に対応
・マウス入力でも確認可能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273D05-DB48-C92E-10C0-9E70C9018CCB}"/>
              </a:ext>
            </a:extLst>
          </p:cNvPr>
          <p:cNvSpPr txBox="1"/>
          <p:nvPr/>
        </p:nvSpPr>
        <p:spPr>
          <a:xfrm>
            <a:off x="9017000" y="5969000"/>
            <a:ext cx="2413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1000">
                <a:solidFill>
                  <a:srgbClr val="697C8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0.5.2  |  3/7</a:t>
            </a:r>
            <a:endParaRPr kumimoji="1" lang="ja-JP" altLang="en-US" sz="1000">
              <a:solidFill>
                <a:srgbClr val="697C8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10" name="narration-03">
            <a:hlinkClick r:id="" action="ppaction://media"/>
            <a:extLst>
              <a:ext uri="{FF2B5EF4-FFF2-40B4-BE49-F238E27FC236}">
                <a16:creationId xmlns:a16="http://schemas.microsoft.com/office/drawing/2014/main" id="{1077CAA7-7480-2B0B-EEE8-1222423BF4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30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BFAE046-17BB-5EED-1F90-EBA23062A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CD7E3E-59E9-59FF-252B-CE34649A08AB}"/>
              </a:ext>
            </a:extLst>
          </p:cNvPr>
          <p:cNvSpPr txBox="1"/>
          <p:nvPr/>
        </p:nvSpPr>
        <p:spPr>
          <a:xfrm>
            <a:off x="482600" y="228600"/>
            <a:ext cx="10922000" cy="4360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3. </a:t>
            </a:r>
            <a:r>
              <a:rPr kumimoji="1" lang="ja-JP" altLang="en-US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筆跡を観測する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7EF2E9F-33BC-50A1-9A3E-E06C0366C3CE}"/>
              </a:ext>
            </a:extLst>
          </p:cNvPr>
          <p:cNvSpPr/>
          <p:nvPr/>
        </p:nvSpPr>
        <p:spPr>
          <a:xfrm>
            <a:off x="381000" y="1066800"/>
            <a:ext cx="8102600" cy="5435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D811FA5-6C76-3517-6EE7-7057954E666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168400"/>
            <a:ext cx="7874000" cy="5245100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A65A7B-9F14-B1ED-40F9-4F72B9EBD097}"/>
              </a:ext>
            </a:extLst>
          </p:cNvPr>
          <p:cNvSpPr/>
          <p:nvPr/>
        </p:nvSpPr>
        <p:spPr>
          <a:xfrm>
            <a:off x="8712200" y="1066800"/>
            <a:ext cx="3098800" cy="5435600"/>
          </a:xfrm>
          <a:prstGeom prst="roundRect">
            <a:avLst/>
          </a:prstGeom>
          <a:solidFill>
            <a:srgbClr val="EF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5E4D84-DC31-E2D2-F464-187A5AF9BEDE}"/>
              </a:ext>
            </a:extLst>
          </p:cNvPr>
          <p:cNvSpPr txBox="1"/>
          <p:nvPr/>
        </p:nvSpPr>
        <p:spPr>
          <a:xfrm>
            <a:off x="8966200" y="1498600"/>
            <a:ext cx="2590800" cy="143629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・筆画と画間の時間を観測
・補間時刻から局所速度を表示しない
・値から困難や能力を推論しない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03B55DC-2417-929E-FE90-DF98444F9F88}"/>
              </a:ext>
            </a:extLst>
          </p:cNvPr>
          <p:cNvSpPr txBox="1"/>
          <p:nvPr/>
        </p:nvSpPr>
        <p:spPr>
          <a:xfrm>
            <a:off x="9017000" y="5969000"/>
            <a:ext cx="2413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1000">
                <a:solidFill>
                  <a:srgbClr val="697C8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0.5.2  |  4/7</a:t>
            </a:r>
            <a:endParaRPr kumimoji="1" lang="ja-JP" altLang="en-US" sz="1000">
              <a:solidFill>
                <a:srgbClr val="697C8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10" name="narration-04">
            <a:hlinkClick r:id="" action="ppaction://media"/>
            <a:extLst>
              <a:ext uri="{FF2B5EF4-FFF2-40B4-BE49-F238E27FC236}">
                <a16:creationId xmlns:a16="http://schemas.microsoft.com/office/drawing/2014/main" id="{C7600E4B-B7F4-6164-0CB7-B2BBFBB762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36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6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AD331B-F864-E204-0FE8-406AD4AD99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2DB993-516F-C6A6-489A-CBB4279A7190}"/>
              </a:ext>
            </a:extLst>
          </p:cNvPr>
          <p:cNvSpPr txBox="1"/>
          <p:nvPr/>
        </p:nvSpPr>
        <p:spPr>
          <a:xfrm>
            <a:off x="482600" y="228600"/>
            <a:ext cx="10922000" cy="4360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4. </a:t>
            </a:r>
            <a:r>
              <a:rPr kumimoji="1" lang="ja-JP" altLang="en-US" sz="2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気持ちと観測候補を並べる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F5C305E-4F7A-44D6-35C0-0C7593F20E72}"/>
              </a:ext>
            </a:extLst>
          </p:cNvPr>
          <p:cNvSpPr/>
          <p:nvPr/>
        </p:nvSpPr>
        <p:spPr>
          <a:xfrm>
            <a:off x="381000" y="1066800"/>
            <a:ext cx="8102600" cy="5435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4E12E89-D834-60E9-6F3F-A62AA110610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168400"/>
            <a:ext cx="7874000" cy="5245100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89C88CA-7714-E0CA-D878-0315369B2B47}"/>
              </a:ext>
            </a:extLst>
          </p:cNvPr>
          <p:cNvSpPr/>
          <p:nvPr/>
        </p:nvSpPr>
        <p:spPr>
          <a:xfrm>
            <a:off x="8712200" y="1066800"/>
            <a:ext cx="3098800" cy="5435600"/>
          </a:xfrm>
          <a:prstGeom prst="roundRect">
            <a:avLst/>
          </a:prstGeom>
          <a:solidFill>
            <a:srgbClr val="EF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5EAF46-EB5A-5684-B900-9DBA6784A85C}"/>
              </a:ext>
            </a:extLst>
          </p:cNvPr>
          <p:cNvSpPr txBox="1"/>
          <p:nvPr/>
        </p:nvSpPr>
        <p:spPr>
          <a:xfrm>
            <a:off x="8966200" y="1498600"/>
            <a:ext cx="2590800" cy="143629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・本人の回答を先に選ぶ
・肯定・なし・回答拒否は候補非表示
・本人が見るか終わるかを選ぶ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9D47D5E-4879-D417-E8D1-0F5CDD14B9BD}"/>
              </a:ext>
            </a:extLst>
          </p:cNvPr>
          <p:cNvSpPr txBox="1"/>
          <p:nvPr/>
        </p:nvSpPr>
        <p:spPr>
          <a:xfrm>
            <a:off x="9017000" y="5969000"/>
            <a:ext cx="2413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1000">
                <a:solidFill>
                  <a:srgbClr val="697C8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0.5.2  |  5/7</a:t>
            </a:r>
            <a:endParaRPr kumimoji="1" lang="ja-JP" altLang="en-US" sz="1000">
              <a:solidFill>
                <a:srgbClr val="697C8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10" name="narration-05">
            <a:hlinkClick r:id="" action="ppaction://media"/>
            <a:extLst>
              <a:ext uri="{FF2B5EF4-FFF2-40B4-BE49-F238E27FC236}">
                <a16:creationId xmlns:a16="http://schemas.microsoft.com/office/drawing/2014/main" id="{1EBCAB89-EB10-A6F8-1C12-12E829BCFF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94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1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B82999-356A-794E-DFFE-9FB1709F9C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54C49B-B5E4-B829-2351-A85ADFB8457C}"/>
              </a:ext>
            </a:extLst>
          </p:cNvPr>
          <p:cNvSpPr txBox="1"/>
          <p:nvPr/>
        </p:nvSpPr>
        <p:spPr>
          <a:xfrm>
            <a:off x="787400" y="571500"/>
            <a:ext cx="10668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30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5. </a:t>
            </a:r>
            <a:r>
              <a:rPr kumimoji="1" lang="ja-JP" altLang="en-US" sz="30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文字候補とフィードバックの範囲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A9AF563-433A-F935-F465-0CF40AD57763}"/>
              </a:ext>
            </a:extLst>
          </p:cNvPr>
          <p:cNvSpPr/>
          <p:nvPr/>
        </p:nvSpPr>
        <p:spPr>
          <a:xfrm>
            <a:off x="787400" y="1676400"/>
            <a:ext cx="10617200" cy="4419600"/>
          </a:xfrm>
          <a:prstGeom prst="roundRect">
            <a:avLst/>
          </a:prstGeom>
          <a:solidFill>
            <a:srgbClr val="EF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C9F3C3-5B8E-DEEE-7480-D3C7F314BA41}"/>
              </a:ext>
            </a:extLst>
          </p:cNvPr>
          <p:cNvSpPr txBox="1"/>
          <p:nvPr/>
        </p:nvSpPr>
        <p:spPr>
          <a:xfrm>
            <a:off x="1168400" y="2032000"/>
            <a:ext cx="9855200" cy="251350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en-US" altLang="ja-JP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Windows</a:t>
            </a:r>
            <a:r>
              <a:rPr kumimoji="1" lang="ja-JP" altLang="en-US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文字候補
　候補を表示し、明示選択時だけ置換
端末内の固定日本語テンプレート
　診断・原因・能力・感情を生成しない
</a:t>
            </a:r>
            <a:r>
              <a:rPr kumimoji="1" lang="en-US" altLang="ja-JP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Phi Silica / Aion Instruct / NPU
</a:t>
            </a:r>
            <a:r>
              <a:rPr kumimoji="1" lang="ja-JP" altLang="en-US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未接続。</a:t>
            </a:r>
            <a:r>
              <a:rPr kumimoji="1" lang="en-US" altLang="ja-JP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</a:t>
            </a:r>
            <a:r>
              <a:rPr kumimoji="1" lang="ja-JP" altLang="en-US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月</a:t>
            </a:r>
            <a:r>
              <a:rPr kumimoji="1" lang="en-US" altLang="ja-JP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kumimoji="1" lang="ja-JP" altLang="en-US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日版へ追加しない</a:t>
            </a:r>
          </a:p>
        </p:txBody>
      </p:sp>
      <p:pic>
        <p:nvPicPr>
          <p:cNvPr id="6" name="narration-06">
            <a:hlinkClick r:id="" action="ppaction://media"/>
            <a:extLst>
              <a:ext uri="{FF2B5EF4-FFF2-40B4-BE49-F238E27FC236}">
                <a16:creationId xmlns:a16="http://schemas.microsoft.com/office/drawing/2014/main" id="{C93FB4C0-EF4E-21F9-E0D6-8A818C77F8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80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9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DAD144-574F-72EC-41B3-C03E6F0CCD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4D70F6-7883-76A5-9F1E-706568AF8517}"/>
              </a:ext>
            </a:extLst>
          </p:cNvPr>
          <p:cNvSpPr txBox="1"/>
          <p:nvPr/>
        </p:nvSpPr>
        <p:spPr>
          <a:xfrm>
            <a:off x="787400" y="571500"/>
            <a:ext cx="10668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 sz="30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研究計画としての結論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3F9F9E-71FE-DADD-4C7E-4DC5DC3F2E28}"/>
              </a:ext>
            </a:extLst>
          </p:cNvPr>
          <p:cNvSpPr txBox="1"/>
          <p:nvPr/>
        </p:nvSpPr>
        <p:spPr>
          <a:xfrm>
            <a:off x="838200" y="1498600"/>
            <a:ext cx="10414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 sz="2200" b="1">
                <a:solidFill>
                  <a:srgbClr val="AEDCE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技術デモは可能。教育効果は未実証。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E0C9ED-1AB5-69E1-9740-FB11E8F24FBB}"/>
              </a:ext>
            </a:extLst>
          </p:cNvPr>
          <p:cNvSpPr/>
          <p:nvPr/>
        </p:nvSpPr>
        <p:spPr>
          <a:xfrm>
            <a:off x="787400" y="2413000"/>
            <a:ext cx="10617200" cy="3683000"/>
          </a:xfrm>
          <a:prstGeom prst="roundRect">
            <a:avLst/>
          </a:prstGeom>
          <a:solidFill>
            <a:srgbClr val="EF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03B621-FDAB-770E-7DF2-9C9F0736141F}"/>
              </a:ext>
            </a:extLst>
          </p:cNvPr>
          <p:cNvSpPr txBox="1"/>
          <p:nvPr/>
        </p:nvSpPr>
        <p:spPr>
          <a:xfrm>
            <a:off x="1168400" y="2768600"/>
            <a:ext cx="9855200" cy="159017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kumimoji="1" lang="ja-JP" altLang="en-US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本課題で行うこと
成人による操作デモ、コード、単体テスト、研究計画の提示
本課題で行わないこと
児童実験、診断、治療、学校・家庭導入、</a:t>
            </a:r>
            <a:r>
              <a:rPr kumimoji="1" lang="en-US" altLang="ja-JP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sz="2000">
                <a:solidFill>
                  <a:srgbClr val="19263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接続済みという主張</a:t>
            </a:r>
          </a:p>
        </p:txBody>
      </p:sp>
      <p:pic>
        <p:nvPicPr>
          <p:cNvPr id="7" name="narration-07">
            <a:hlinkClick r:id="" action="ppaction://media"/>
            <a:extLst>
              <a:ext uri="{FF2B5EF4-FFF2-40B4-BE49-F238E27FC236}">
                <a16:creationId xmlns:a16="http://schemas.microsoft.com/office/drawing/2014/main" id="{3A830651-1538-D2FB-5A7D-996CBA23E6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88800" y="6654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9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5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Yu Gothic"/>
        <a:font script="Hans" typeface="Yu Gothic"/>
        <a:font script="Hant" typeface="Yu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Yu Gothic"/>
        <a:font script="Hans" typeface="Yu Gothic"/>
        <a:font script="Hant" typeface="Yu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ユーザー設定</PresentationFormat>
  <Paragraphs>20</Paragraphs>
  <Slides>7</Slides>
  <Notes>0</Notes>
  <HiddenSlides>0</HiddenSlides>
  <MMClips>7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
  </dc:title>
  <dc:creator>WriteMirror Project</dc:creator>
  <cp:lastModifiedBy>WriteMirror Project</cp:lastModifiedBy>
  <cp:revision>1</cp:revision>
  <dcterms:created xsi:type="dcterms:W3CDTF">2026-07-18T12:47:45Z</dcterms:created>
  <dcterms:modified xsi:type="dcterms:W3CDTF">2026-07-18T12:47:45Z</dcterms:modified>
</cp:coreProperties>
</file>